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D36AA-BEE7-4A7D-ACC0-6346984C253D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1EA57-31A6-44BC-86D8-4DFC8DDF0E9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6878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1EA57-31A6-44BC-86D8-4DFC8DDF0E9F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1312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600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334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3846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878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218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217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677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056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977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63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3813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5608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775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7509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8631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98427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43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FD15A86-D36F-467F-8CB9-F54EFAFFF8D5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C8105E5-8E51-4CC8-8085-855D0B8B20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4662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F051-4FFF-2D22-B18A-DCB06EDE8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6600" dirty="0"/>
              <a:t>CE889 – Rossman Deep Learning Project</a:t>
            </a:r>
            <a:endParaRPr lang="tr-TR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AA2A6-047E-9C76-047F-7DD7B2D29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Muhammed Baris Govercin</a:t>
            </a:r>
          </a:p>
          <a:p>
            <a:r>
              <a:rPr lang="en-GB" dirty="0"/>
              <a:t>2501385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263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9D3F-1E69-2EFD-7D5A-D09F8F92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Overview General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C85C0-9ADF-4955-E89F-CB391EE4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Dataset: Rossman Store Sales Kaggle Competition</a:t>
            </a:r>
          </a:p>
          <a:p>
            <a:r>
              <a:rPr lang="en-GB" dirty="0"/>
              <a:t>Divided the features as categorical and numerical</a:t>
            </a:r>
          </a:p>
          <a:p>
            <a:r>
              <a:rPr lang="en-GB" b="1" dirty="0"/>
              <a:t>Categorical Features: </a:t>
            </a:r>
            <a:r>
              <a:rPr lang="en-US" dirty="0"/>
              <a:t>Store, </a:t>
            </a:r>
            <a:r>
              <a:rPr lang="en-US" dirty="0" err="1"/>
              <a:t>StoreType</a:t>
            </a:r>
            <a:r>
              <a:rPr lang="en-US" dirty="0"/>
              <a:t>, Assortment, </a:t>
            </a:r>
            <a:r>
              <a:rPr lang="en-US" dirty="0" err="1"/>
              <a:t>StateHoliday</a:t>
            </a:r>
            <a:r>
              <a:rPr lang="en-US" dirty="0"/>
              <a:t>, </a:t>
            </a:r>
            <a:r>
              <a:rPr lang="en-US" dirty="0" err="1"/>
              <a:t>PromoInterval</a:t>
            </a:r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 discrete classes, not real numeric values</a:t>
            </a:r>
          </a:p>
          <a:p>
            <a:r>
              <a:rPr lang="en-US" dirty="0"/>
              <a:t>Encoded using </a:t>
            </a:r>
            <a:r>
              <a:rPr lang="en-US" dirty="0" err="1"/>
              <a:t>LabelEncoder</a:t>
            </a:r>
            <a:r>
              <a:rPr lang="en-US" dirty="0"/>
              <a:t> → processed through embedding layers</a:t>
            </a:r>
          </a:p>
          <a:p>
            <a:r>
              <a:rPr lang="tr-TR" b="1" dirty="0"/>
              <a:t>Numerical </a:t>
            </a:r>
            <a:r>
              <a:rPr lang="en-GB" b="1" dirty="0"/>
              <a:t>F</a:t>
            </a:r>
            <a:r>
              <a:rPr lang="tr-TR" b="1" dirty="0"/>
              <a:t>eatures</a:t>
            </a:r>
            <a:r>
              <a:rPr lang="en-GB" b="1" dirty="0"/>
              <a:t>: </a:t>
            </a:r>
            <a:r>
              <a:rPr lang="tr-TR" dirty="0"/>
              <a:t>Competition data, promo flags, date components</a:t>
            </a:r>
            <a:r>
              <a:rPr lang="en-GB" dirty="0"/>
              <a:t> etc.</a:t>
            </a:r>
          </a:p>
          <a:p>
            <a:r>
              <a:rPr lang="tr-TR" dirty="0"/>
              <a:t>Scaled using </a:t>
            </a:r>
            <a:r>
              <a:rPr lang="tr-TR" b="1" dirty="0"/>
              <a:t>MinMaxScaler</a:t>
            </a:r>
            <a:endParaRPr lang="en-GB" b="1" dirty="0"/>
          </a:p>
          <a:p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Why?</a:t>
            </a:r>
          </a:p>
          <a:p>
            <a:r>
              <a:rPr lang="en-US" dirty="0"/>
              <a:t>Each feature type is processed with the method best suited for it</a:t>
            </a:r>
            <a:endParaRPr lang="tr-T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6700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E48D-4F85-E479-C91D-EE4F5252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Overview and Future Handling Train Part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FCB5-2F1E-11F0-4562-FB525D476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Train: train.csv + store.csv</a:t>
            </a:r>
          </a:p>
          <a:p>
            <a:r>
              <a:rPr lang="en-GB" b="1" dirty="0"/>
              <a:t>Why? </a:t>
            </a:r>
          </a:p>
          <a:p>
            <a:r>
              <a:rPr lang="tr-TR" b="1" dirty="0"/>
              <a:t>StoreType, Assortment, CompetitionDistance, Promo2</a:t>
            </a:r>
            <a:r>
              <a:rPr lang="en-GB" dirty="0"/>
              <a:t> columns are needed to get the store information and train the model better.</a:t>
            </a:r>
          </a:p>
          <a:p>
            <a:r>
              <a:rPr lang="en-GB" dirty="0"/>
              <a:t>Customers dropped because It does not exist in the test set. Model should be independent from this.</a:t>
            </a:r>
          </a:p>
          <a:p>
            <a:r>
              <a:rPr lang="en-GB" dirty="0"/>
              <a:t>Date dropped because It is segmented to </a:t>
            </a:r>
            <a:r>
              <a:rPr lang="tr-TR" b="1" dirty="0"/>
              <a:t>Year, Month, Day, WeekOfYear</a:t>
            </a:r>
            <a:r>
              <a:rPr lang="tr-TR" dirty="0"/>
              <a:t> </a:t>
            </a:r>
            <a:r>
              <a:rPr lang="en-GB" dirty="0"/>
              <a:t>and it gets useless.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4983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8791-1B38-A9D3-ACEB-CBAD1C96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Overview and Future Handling Test Part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E860C-2C65-09BF-BE50-61584BDEF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Date dropped because It is segmented to </a:t>
            </a:r>
            <a:r>
              <a:rPr lang="tr-TR" b="1" dirty="0"/>
              <a:t>Year, Month, Day, WeekOfYear</a:t>
            </a:r>
            <a:r>
              <a:rPr lang="tr-TR" dirty="0"/>
              <a:t> </a:t>
            </a:r>
            <a:r>
              <a:rPr lang="en-GB" dirty="0"/>
              <a:t>and it gets useless.</a:t>
            </a:r>
            <a:endParaRPr lang="tr-TR" dirty="0"/>
          </a:p>
          <a:p>
            <a:r>
              <a:rPr lang="en-GB" dirty="0"/>
              <a:t>Categorical encoding is used</a:t>
            </a:r>
          </a:p>
          <a:p>
            <a:r>
              <a:rPr lang="en-GB" dirty="0"/>
              <a:t>Numerical columns scaled wit </a:t>
            </a:r>
            <a:r>
              <a:rPr lang="en-GB" dirty="0" err="1"/>
              <a:t>MinMax</a:t>
            </a:r>
            <a:endParaRPr lang="en-GB" dirty="0"/>
          </a:p>
          <a:p>
            <a:r>
              <a:rPr lang="en-GB" dirty="0"/>
              <a:t>Numeric </a:t>
            </a:r>
            <a:r>
              <a:rPr lang="en-GB" dirty="0" err="1"/>
              <a:t>NaN</a:t>
            </a:r>
            <a:r>
              <a:rPr lang="en-GB" dirty="0"/>
              <a:t> values are set to -1, since model cannot process </a:t>
            </a:r>
            <a:r>
              <a:rPr lang="en-GB" dirty="0" err="1"/>
              <a:t>NaN</a:t>
            </a:r>
            <a:endParaRPr lang="en-GB" dirty="0"/>
          </a:p>
          <a:p>
            <a:r>
              <a:rPr lang="en-GB" dirty="0"/>
              <a:t>Categorical </a:t>
            </a:r>
            <a:r>
              <a:rPr lang="en-GB" dirty="0" err="1"/>
              <a:t>NaN</a:t>
            </a:r>
            <a:r>
              <a:rPr lang="en-GB" dirty="0"/>
              <a:t> values are set to “missing” string so model can process them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6802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8C68-F50E-BA47-A0AF-C5053552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Preprocessing – Categorical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3D9C-BE96-540F-0492-6385319E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Categorical columns encoded using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b="1" dirty="0"/>
              <a:t>Why? </a:t>
            </a:r>
          </a:p>
          <a:p>
            <a:r>
              <a:rPr lang="en-US" dirty="0"/>
              <a:t>Neural networks cannot process raw categorical text so convert the categories to integer IDs</a:t>
            </a:r>
          </a:p>
          <a:p>
            <a:r>
              <a:rPr lang="en-US" dirty="0"/>
              <a:t>Encodings later embedded into dense vectors</a:t>
            </a:r>
          </a:p>
          <a:p>
            <a:r>
              <a:rPr lang="en-US" b="1" dirty="0"/>
              <a:t>Why? </a:t>
            </a:r>
          </a:p>
          <a:p>
            <a:r>
              <a:rPr lang="en-US" dirty="0"/>
              <a:t>Instead of treating them as integers, embeddings allow the model to learn meaningful relationships between categories</a:t>
            </a:r>
          </a:p>
          <a:p>
            <a:r>
              <a:rPr lang="en-US" dirty="0"/>
              <a:t>Embedding improves learning vs one-hot encoding</a:t>
            </a:r>
          </a:p>
          <a:p>
            <a:r>
              <a:rPr lang="en-US" b="1" dirty="0"/>
              <a:t>Why? </a:t>
            </a:r>
          </a:p>
          <a:p>
            <a:r>
              <a:rPr lang="en-US" dirty="0"/>
              <a:t>Embeddings capture patterns better and are more efficient than one-hot encoding (vector size difference is huge)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547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D37D-CF98-4809-C680-DBB00A618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Preprocessing – Numeric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A5BD-D9C1-24B2-AD1D-2EA585E60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 columns scaled using </a:t>
            </a:r>
            <a:r>
              <a:rPr lang="en-US" dirty="0" err="1"/>
              <a:t>MinMaxScaler</a:t>
            </a:r>
            <a:endParaRPr lang="en-US" dirty="0"/>
          </a:p>
          <a:p>
            <a:r>
              <a:rPr lang="en-US" b="1" dirty="0"/>
              <a:t>Why? </a:t>
            </a:r>
          </a:p>
          <a:p>
            <a:r>
              <a:rPr lang="en-US" dirty="0"/>
              <a:t>Prevent large numeric values dominating the training and stabilize the learning</a:t>
            </a:r>
          </a:p>
          <a:p>
            <a:r>
              <a:rPr lang="en-US" dirty="0"/>
              <a:t>Log-transform applied to Sales target: log(1+Sales)</a:t>
            </a:r>
          </a:p>
          <a:p>
            <a:r>
              <a:rPr lang="en-US" b="1" dirty="0"/>
              <a:t>Why? </a:t>
            </a:r>
          </a:p>
          <a:p>
            <a:r>
              <a:rPr lang="en-US" dirty="0"/>
              <a:t>Sales values vary too widely, and log-transform makes them more consistent for the model to learn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4048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EC5F-3DF2-9A1A-8F96-8DFC248F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Deep Neural Network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40B55-FE8C-D13D-76ED-4F1D37BCE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Tabular Deep Learning model with embeddings</a:t>
            </a:r>
          </a:p>
          <a:p>
            <a:r>
              <a:rPr lang="en-GB" b="1" dirty="0"/>
              <a:t>Why? </a:t>
            </a:r>
          </a:p>
          <a:p>
            <a:r>
              <a:rPr lang="en-US" dirty="0"/>
              <a:t>Handles mixed categorical &amp; numeric features effectively</a:t>
            </a:r>
          </a:p>
          <a:p>
            <a:r>
              <a:rPr lang="en-US" dirty="0"/>
              <a:t>Scales well for large datasets</a:t>
            </a:r>
          </a:p>
          <a:p>
            <a:r>
              <a:rPr lang="en-US" dirty="0"/>
              <a:t>Allow the model to automatically learn complex interactions between features</a:t>
            </a:r>
          </a:p>
          <a:p>
            <a:r>
              <a:rPr lang="en-US" b="1" dirty="0"/>
              <a:t>Why not </a:t>
            </a:r>
            <a:r>
              <a:rPr lang="en-US" b="1" dirty="0" err="1"/>
              <a:t>XGBoost</a:t>
            </a:r>
            <a:r>
              <a:rPr lang="en-US" b="1" dirty="0"/>
              <a:t> or </a:t>
            </a:r>
            <a:r>
              <a:rPr lang="en-US" b="1" dirty="0" err="1"/>
              <a:t>CatBoost</a:t>
            </a:r>
            <a:r>
              <a:rPr lang="en-US" b="1" dirty="0"/>
              <a:t>? </a:t>
            </a:r>
            <a:r>
              <a:rPr lang="en-US" dirty="0"/>
              <a:t>Because they are ML models</a:t>
            </a:r>
          </a:p>
          <a:p>
            <a:r>
              <a:rPr lang="en-US" b="1" dirty="0"/>
              <a:t>Why not MLP? </a:t>
            </a:r>
            <a:r>
              <a:rPr lang="en-US" dirty="0"/>
              <a:t>Cannot handle large categorical values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0825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7EFB-D358-0C60-0C2C-D6B0E4CF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9086-1986-F41B-A856-71DD2B9E0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Embedding layers for categorical variables</a:t>
            </a:r>
          </a:p>
          <a:p>
            <a:r>
              <a:rPr lang="tr-TR" dirty="0"/>
              <a:t>Dense block for numeric inputs</a:t>
            </a:r>
          </a:p>
          <a:p>
            <a:r>
              <a:rPr lang="tr-TR" dirty="0"/>
              <a:t>Final topology: (Emb + Num) → 128 → 64 → 1</a:t>
            </a:r>
            <a:endParaRPr lang="en-GB" dirty="0"/>
          </a:p>
          <a:p>
            <a:r>
              <a:rPr lang="en-GB" dirty="0"/>
              <a:t>First Fully Connected Layer =&gt; 128</a:t>
            </a:r>
          </a:p>
          <a:p>
            <a:r>
              <a:rPr lang="en-GB" dirty="0"/>
              <a:t>Second Fully Connected Layer =&gt; 64</a:t>
            </a:r>
          </a:p>
          <a:p>
            <a:r>
              <a:rPr lang="tr-TR" dirty="0"/>
              <a:t>Final </a:t>
            </a:r>
            <a:r>
              <a:rPr lang="en-GB" dirty="0"/>
              <a:t>O</a:t>
            </a:r>
            <a:r>
              <a:rPr lang="tr-TR" dirty="0"/>
              <a:t>utput </a:t>
            </a:r>
            <a:r>
              <a:rPr lang="en-GB" dirty="0"/>
              <a:t>L</a:t>
            </a:r>
            <a:r>
              <a:rPr lang="tr-TR" dirty="0"/>
              <a:t>ayer </a:t>
            </a:r>
            <a:r>
              <a:rPr lang="en-GB" dirty="0"/>
              <a:t>= Sales =&gt; 1</a:t>
            </a:r>
            <a:endParaRPr lang="tr-TR" dirty="0"/>
          </a:p>
          <a:p>
            <a:r>
              <a:rPr lang="tr-TR" dirty="0"/>
              <a:t>Output predicts log(1 + Sales)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5008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305C-C64C-F522-382F-CB7832A5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Training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61B69-9D6B-8BF3-2CAF-7B6E19793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Optimizer: Adam (lr</a:t>
            </a:r>
            <a:r>
              <a:rPr lang="en-GB" dirty="0"/>
              <a:t> </a:t>
            </a:r>
            <a:r>
              <a:rPr lang="tr-TR" dirty="0"/>
              <a:t>=</a:t>
            </a:r>
            <a:r>
              <a:rPr lang="en-GB" dirty="0"/>
              <a:t> </a:t>
            </a:r>
            <a:r>
              <a:rPr lang="tr-TR" dirty="0"/>
              <a:t>0.0007)</a:t>
            </a:r>
            <a:endParaRPr lang="en-GB" dirty="0"/>
          </a:p>
          <a:p>
            <a:r>
              <a:rPr lang="en-GB" b="1" dirty="0"/>
              <a:t>Why? </a:t>
            </a:r>
            <a:r>
              <a:rPr lang="en-GB" dirty="0"/>
              <a:t>Adapting the learning rate for each parameter so, helps the model converge faster and stable. Also works well with tabular deep learning</a:t>
            </a:r>
            <a:endParaRPr lang="tr-TR" dirty="0"/>
          </a:p>
          <a:p>
            <a:r>
              <a:rPr lang="tr-TR" dirty="0"/>
              <a:t>LR Scheduler: StepLR (drops lr every 3 epochs)</a:t>
            </a:r>
            <a:endParaRPr lang="en-GB" dirty="0"/>
          </a:p>
          <a:p>
            <a:r>
              <a:rPr lang="en-GB" b="1" dirty="0"/>
              <a:t>Why? </a:t>
            </a:r>
            <a:r>
              <a:rPr lang="en-GB" dirty="0"/>
              <a:t>Lowering the LR during the training helps the model fine tune its own weights and reduce the risk of overshooting</a:t>
            </a:r>
            <a:endParaRPr lang="tr-TR" dirty="0"/>
          </a:p>
          <a:p>
            <a:r>
              <a:rPr lang="tr-TR" dirty="0"/>
              <a:t>Batch size = 2048, Epochs = 15</a:t>
            </a:r>
            <a:endParaRPr lang="en-GB" dirty="0"/>
          </a:p>
          <a:p>
            <a:r>
              <a:rPr lang="en-GB" b="1" dirty="0"/>
              <a:t>Why? </a:t>
            </a:r>
            <a:r>
              <a:rPr lang="en-GB" dirty="0"/>
              <a:t>Larger batch stabilize gradient estimate. 15 epoch provide a good balance, not underfit or overfit</a:t>
            </a:r>
            <a:endParaRPr lang="tr-TR" dirty="0"/>
          </a:p>
          <a:p>
            <a:r>
              <a:rPr lang="tr-TR" dirty="0"/>
              <a:t>Loss: MSE in log space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737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218D-8814-3CEF-3505-8F16D54D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E4EF0-B4B3-726E-F08F-BC9808638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converged smoothly with scheduler</a:t>
            </a:r>
          </a:p>
          <a:p>
            <a:r>
              <a:rPr lang="en-US" b="1" dirty="0"/>
              <a:t>Because: </a:t>
            </a:r>
            <a:r>
              <a:rPr lang="en-US" dirty="0"/>
              <a:t>Scheduler lowered the LR over time, giving smoother and more stable convergence</a:t>
            </a:r>
          </a:p>
          <a:p>
            <a:r>
              <a:rPr lang="en-US" dirty="0"/>
              <a:t>Log-transform improved stability</a:t>
            </a:r>
          </a:p>
          <a:p>
            <a:r>
              <a:rPr lang="en-US" b="1" dirty="0"/>
              <a:t>Because: </a:t>
            </a:r>
            <a:r>
              <a:rPr lang="en-US" dirty="0"/>
              <a:t>Log-transform reduces target variability, making training more stable</a:t>
            </a:r>
          </a:p>
          <a:p>
            <a:r>
              <a:rPr lang="en-US" dirty="0"/>
              <a:t>Reduced overfitting vs raw-sales regression</a:t>
            </a:r>
          </a:p>
          <a:p>
            <a:r>
              <a:rPr lang="en-GB" b="1" dirty="0"/>
              <a:t>Because: </a:t>
            </a:r>
            <a:r>
              <a:rPr lang="en-US" dirty="0"/>
              <a:t>Log-transform reduces the impact of outliers, improving generalization. Less overfitting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9257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494B-369D-AAAB-ABAD-65D0E304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Kaggle Submission Performance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64AC03-7D91-F1FE-1469-5A51D6D66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0743" y="1731963"/>
            <a:ext cx="7300989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988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64</TotalTime>
  <Words>626</Words>
  <Application>Microsoft Office PowerPoint</Application>
  <PresentationFormat>Widescreen</PresentationFormat>
  <Paragraphs>75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Calisto MT</vt:lpstr>
      <vt:lpstr>Wingdings 2</vt:lpstr>
      <vt:lpstr>Slate</vt:lpstr>
      <vt:lpstr>CE889 – Rossman Deep Learning Project</vt:lpstr>
      <vt:lpstr>Data Overview General</vt:lpstr>
      <vt:lpstr>Data Overview and Future Handling Train Part</vt:lpstr>
      <vt:lpstr>Data Overview and Future Handling Test Part</vt:lpstr>
      <vt:lpstr>Preprocessing – Categorical Features</vt:lpstr>
      <vt:lpstr>Preprocessing – Numeric Features</vt:lpstr>
      <vt:lpstr>Deep Neural Network Choice</vt:lpstr>
      <vt:lpstr>Model Architecture</vt:lpstr>
      <vt:lpstr>Training Strategy</vt:lpstr>
      <vt:lpstr>Training Results</vt:lpstr>
      <vt:lpstr>Kaggle Submission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Baris Govercin</dc:creator>
  <cp:lastModifiedBy>Baris Govercin</cp:lastModifiedBy>
  <cp:revision>2</cp:revision>
  <dcterms:created xsi:type="dcterms:W3CDTF">2025-12-06T23:04:10Z</dcterms:created>
  <dcterms:modified xsi:type="dcterms:W3CDTF">2025-12-07T00:09:03Z</dcterms:modified>
</cp:coreProperties>
</file>