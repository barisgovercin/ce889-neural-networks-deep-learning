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0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1CCAE-A573-42D3-86D8-120B3AAE28D0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CBC0A-25B5-4E9C-A915-141292C9A1A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821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CBC0A-25B5-4E9C-A915-141292C9A1AD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275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8761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18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734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986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878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788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157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731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094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922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1598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886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153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5915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234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306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446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F74C96-31B5-4800-B37A-1639C57BE854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851739-4D41-4773-852B-7F9B18066A8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808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C1F2-B70A-B715-57CF-626757494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CE889 – Lunar Lander Neural Network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4737B-E12D-44BA-B986-90E558863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Muhammed Baris </a:t>
            </a:r>
            <a:r>
              <a:rPr lang="en-GB" dirty="0" err="1"/>
              <a:t>govercin</a:t>
            </a:r>
            <a:endParaRPr lang="en-GB" dirty="0"/>
          </a:p>
          <a:p>
            <a:r>
              <a:rPr lang="en-GB" dirty="0"/>
              <a:t>2501385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444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2097-80EF-C6E3-2C1B-C2278CD7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09600"/>
            <a:ext cx="4721227" cy="1456267"/>
          </a:xfrm>
        </p:spPr>
        <p:txBody>
          <a:bodyPr/>
          <a:lstStyle/>
          <a:p>
            <a:pPr algn="r"/>
            <a:r>
              <a:rPr lang="en-GB" b="1" dirty="0"/>
              <a:t>Partition </a:t>
            </a:r>
            <a:r>
              <a:rPr lang="tr-TR" b="1" dirty="0"/>
              <a:t>of data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39BF4C-B390-0394-DED2-77B94A08B2A8}"/>
              </a:ext>
            </a:extLst>
          </p:cNvPr>
          <p:cNvSpPr txBox="1">
            <a:spLocks/>
          </p:cNvSpPr>
          <p:nvPr/>
        </p:nvSpPr>
        <p:spPr>
          <a:xfrm>
            <a:off x="685800" y="635977"/>
            <a:ext cx="5410199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/>
              <a:t>processing </a:t>
            </a:r>
            <a:r>
              <a:rPr lang="tr-TR" b="1" dirty="0"/>
              <a:t>of data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4EA12E-436E-A74E-7129-6B6155387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889625"/>
            <a:ext cx="5410199" cy="485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sz="1400" dirty="0"/>
          </a:p>
          <a:p>
            <a:r>
              <a:rPr lang="tr-TR" sz="1600" dirty="0"/>
              <a:t>Min–Max Normalization</a:t>
            </a:r>
            <a:r>
              <a:rPr lang="en-GB" sz="1600" dirty="0"/>
              <a:t> used</a:t>
            </a:r>
            <a:endParaRPr lang="en-US" sz="1600" b="1" dirty="0"/>
          </a:p>
          <a:p>
            <a:r>
              <a:rPr lang="en-US" b="1" dirty="0">
                <a:solidFill>
                  <a:srgbClr val="00B050"/>
                </a:solidFill>
              </a:rPr>
              <a:t>Why preprocessing was necessary?</a:t>
            </a:r>
          </a:p>
          <a:p>
            <a:r>
              <a:rPr lang="en-US" sz="1600" dirty="0"/>
              <a:t>Ensures the sigmoid activation works effectively</a:t>
            </a:r>
          </a:p>
          <a:p>
            <a:r>
              <a:rPr lang="en-US" sz="1600" dirty="0"/>
              <a:t>Provides stable weight updates during training</a:t>
            </a:r>
          </a:p>
          <a:p>
            <a:r>
              <a:rPr lang="en-US" sz="1600" dirty="0"/>
              <a:t>Prevents large raw values from </a:t>
            </a:r>
            <a:r>
              <a:rPr lang="tr-TR" sz="1600" dirty="0"/>
              <a:t>destabilising</a:t>
            </a:r>
            <a:r>
              <a:rPr lang="en-US" sz="1600" dirty="0"/>
              <a:t> learning</a:t>
            </a:r>
          </a:p>
          <a:p>
            <a:r>
              <a:rPr lang="en-US" b="1" dirty="0">
                <a:solidFill>
                  <a:srgbClr val="00B050"/>
                </a:solidFill>
              </a:rPr>
              <a:t>How to handle with feature selection</a:t>
            </a:r>
          </a:p>
          <a:p>
            <a:r>
              <a:rPr lang="en-US" sz="1600" dirty="0"/>
              <a:t>Only </a:t>
            </a:r>
            <a:r>
              <a:rPr lang="en-US" sz="1600" b="1" dirty="0" err="1"/>
              <a:t>X_target</a:t>
            </a:r>
            <a:r>
              <a:rPr lang="en-US" sz="1600" dirty="0"/>
              <a:t> and </a:t>
            </a:r>
            <a:r>
              <a:rPr lang="en-US" sz="1600" b="1" dirty="0" err="1"/>
              <a:t>Y_target</a:t>
            </a:r>
            <a:r>
              <a:rPr lang="en-US" sz="1600" dirty="0"/>
              <a:t> were used, as required by the assignment</a:t>
            </a:r>
          </a:p>
          <a:p>
            <a:r>
              <a:rPr lang="en-US" sz="1600" dirty="0"/>
              <a:t>All other collected features were ignored</a:t>
            </a:r>
          </a:p>
          <a:p>
            <a:r>
              <a:rPr lang="en-US" b="1" dirty="0">
                <a:solidFill>
                  <a:srgbClr val="00B050"/>
                </a:solidFill>
              </a:rPr>
              <a:t>Output handling</a:t>
            </a:r>
          </a:p>
          <a:p>
            <a:r>
              <a:rPr lang="en-US" sz="1600" dirty="0"/>
              <a:t>Outputs (velocities) were </a:t>
            </a:r>
            <a:r>
              <a:rPr lang="en-US" sz="1600" b="1" dirty="0"/>
              <a:t>not normalized</a:t>
            </a:r>
            <a:r>
              <a:rPr lang="en-US" sz="1600" dirty="0"/>
              <a:t>, since a linear output layer does not require scaling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tr-TR" altLang="tr-T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0A006B-20E3-1481-8F62-4BC7E3FB0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2330796"/>
            <a:ext cx="54101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altLang="tr-TR" sz="1600" dirty="0">
                <a:latin typeface="Arial" panose="020B0604020202020204" pitchFamily="34" charset="0"/>
              </a:rPr>
              <a:t> </a:t>
            </a:r>
            <a:r>
              <a:rPr lang="tr-TR" altLang="tr-TR" sz="1600" dirty="0">
                <a:latin typeface="Arial" panose="020B0604020202020204" pitchFamily="34" charset="0"/>
              </a:rPr>
              <a:t>70% Training</a:t>
            </a:r>
            <a:endParaRPr lang="en-GB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altLang="tr-TR" sz="1600" dirty="0">
                <a:latin typeface="Arial" panose="020B0604020202020204" pitchFamily="34" charset="0"/>
              </a:rPr>
              <a:t> </a:t>
            </a:r>
            <a:r>
              <a:rPr lang="tr-TR" altLang="tr-TR" sz="1600" dirty="0">
                <a:latin typeface="Arial" panose="020B0604020202020204" pitchFamily="34" charset="0"/>
              </a:rPr>
              <a:t>15% Validation</a:t>
            </a:r>
            <a:endParaRPr lang="en-GB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altLang="tr-TR" sz="1600" dirty="0">
                <a:latin typeface="Arial" panose="020B0604020202020204" pitchFamily="34" charset="0"/>
              </a:rPr>
              <a:t> </a:t>
            </a:r>
            <a:r>
              <a:rPr lang="tr-TR" altLang="tr-TR" sz="1600" dirty="0">
                <a:latin typeface="Arial" panose="020B0604020202020204" pitchFamily="34" charset="0"/>
              </a:rPr>
              <a:t>15% Test</a:t>
            </a:r>
            <a:endParaRPr lang="en-GB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GB" altLang="tr-TR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 </a:t>
            </a:r>
            <a:r>
              <a:rPr lang="en-US" sz="1600" dirty="0" err="1"/>
              <a:t>trainTestValSplit</a:t>
            </a:r>
            <a:r>
              <a:rPr lang="en-US" sz="1600" dirty="0"/>
              <a:t>() function shuffles and splits the data </a:t>
            </a:r>
            <a:endParaRPr lang="tr-TR" altLang="tr-TR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66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B565-71DF-9065-4205-76764D8E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Cleaning &amp; Min–Max Normalisation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73026-F9EF-EBE9-7270-1BF93F9AF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410199" cy="3649133"/>
          </a:xfrm>
        </p:spPr>
        <p:txBody>
          <a:bodyPr/>
          <a:lstStyle/>
          <a:p>
            <a:r>
              <a:rPr lang="en-GB" dirty="0" err="1"/>
              <a:t>cleanConvertCsv</a:t>
            </a:r>
            <a:r>
              <a:rPr lang="en-GB" dirty="0"/>
              <a:t>()</a:t>
            </a:r>
          </a:p>
          <a:p>
            <a:r>
              <a:rPr lang="en-GB" dirty="0"/>
              <a:t>Skips empty lines.</a:t>
            </a:r>
          </a:p>
          <a:p>
            <a:r>
              <a:rPr lang="en-US" dirty="0"/>
              <a:t>Skips if column number is less than 4</a:t>
            </a:r>
          </a:p>
          <a:p>
            <a:r>
              <a:rPr lang="en-US" dirty="0"/>
              <a:t>Skip if any one of the column is empty</a:t>
            </a:r>
            <a:endParaRPr lang="en-GB" dirty="0"/>
          </a:p>
          <a:p>
            <a:r>
              <a:rPr lang="en-GB" dirty="0"/>
              <a:t>Converts x, y, </a:t>
            </a:r>
            <a:r>
              <a:rPr lang="en-GB" dirty="0" err="1"/>
              <a:t>vy</a:t>
            </a:r>
            <a:r>
              <a:rPr lang="en-GB" dirty="0"/>
              <a:t>, </a:t>
            </a:r>
            <a:r>
              <a:rPr lang="en-GB" dirty="0" err="1"/>
              <a:t>vx</a:t>
            </a:r>
            <a:r>
              <a:rPr lang="en-GB" dirty="0"/>
              <a:t> to float. Skips if cannot do it.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75F540-8987-ED70-62CF-6F87D9848B44}"/>
              </a:ext>
            </a:extLst>
          </p:cNvPr>
          <p:cNvSpPr txBox="1">
            <a:spLocks/>
          </p:cNvSpPr>
          <p:nvPr/>
        </p:nvSpPr>
        <p:spPr>
          <a:xfrm>
            <a:off x="5751513" y="2142067"/>
            <a:ext cx="5410199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normaliseValue</a:t>
            </a:r>
            <a:r>
              <a:rPr lang="en-GB" dirty="0"/>
              <a:t>()</a:t>
            </a:r>
          </a:p>
          <a:p>
            <a:r>
              <a:rPr lang="en-GB" dirty="0"/>
              <a:t>Normalise </a:t>
            </a:r>
            <a:r>
              <a:rPr lang="en-GB" dirty="0" err="1"/>
              <a:t>x_target</a:t>
            </a:r>
            <a:r>
              <a:rPr lang="en-GB" dirty="0"/>
              <a:t> and </a:t>
            </a:r>
            <a:r>
              <a:rPr lang="en-GB" dirty="0" err="1"/>
              <a:t>y_target</a:t>
            </a:r>
            <a:r>
              <a:rPr lang="en-GB" dirty="0"/>
              <a:t> to [0-1]</a:t>
            </a:r>
          </a:p>
          <a:p>
            <a:r>
              <a:rPr lang="en-GB" dirty="0"/>
              <a:t>Outputs </a:t>
            </a:r>
            <a:r>
              <a:rPr lang="en-GB" dirty="0" err="1"/>
              <a:t>new_vel_y</a:t>
            </a:r>
            <a:r>
              <a:rPr lang="en-GB" dirty="0"/>
              <a:t> and </a:t>
            </a:r>
            <a:r>
              <a:rPr lang="en-GB" dirty="0" err="1"/>
              <a:t>new_vel_x</a:t>
            </a:r>
            <a:r>
              <a:rPr lang="en-GB" dirty="0"/>
              <a:t> remain original.</a:t>
            </a:r>
          </a:p>
          <a:p>
            <a:r>
              <a:rPr lang="en-US" dirty="0"/>
              <a:t>Because velocity outputs are physical values, they remain at the original scale. Normalizing them would twist the actual motion.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634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6721-8DE3-1FD1-7554-F34FA0CA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Backpropagation MLP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BBDC-47C4-95A9-13E3-BAD0E41F7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Inputs (2): </a:t>
            </a:r>
            <a:r>
              <a:rPr lang="en-GB" dirty="0" err="1"/>
              <a:t>x_target_norm</a:t>
            </a:r>
            <a:r>
              <a:rPr lang="en-GB" dirty="0"/>
              <a:t>, </a:t>
            </a:r>
            <a:r>
              <a:rPr lang="en-GB" dirty="0" err="1"/>
              <a:t>y_target_norm</a:t>
            </a:r>
            <a:endParaRPr lang="en-GB" dirty="0"/>
          </a:p>
          <a:p>
            <a:r>
              <a:rPr lang="en-GB" dirty="0"/>
              <a:t>Hidden Layer: 3 neurons, Sigmoid activation</a:t>
            </a:r>
          </a:p>
          <a:p>
            <a:r>
              <a:rPr lang="en-GB" dirty="0"/>
              <a:t>Outputs (2): </a:t>
            </a:r>
            <a:r>
              <a:rPr lang="en-GB" dirty="0" err="1"/>
              <a:t>new_vel_x</a:t>
            </a:r>
            <a:r>
              <a:rPr lang="en-GB" dirty="0"/>
              <a:t>, </a:t>
            </a:r>
            <a:r>
              <a:rPr lang="en-GB" dirty="0" err="1"/>
              <a:t>new_vel_y</a:t>
            </a:r>
            <a:r>
              <a:rPr lang="en-GB" dirty="0"/>
              <a:t> (Linear)</a:t>
            </a:r>
          </a:p>
          <a:p>
            <a:r>
              <a:rPr lang="en-GB" dirty="0"/>
              <a:t>Overall Topology: 2 → 3 → 2</a:t>
            </a:r>
          </a:p>
        </p:txBody>
      </p:sp>
    </p:spTree>
    <p:extLst>
      <p:ext uri="{BB962C8B-B14F-4D97-AF65-F5344CB8AC3E}">
        <p14:creationId xmlns:p14="http://schemas.microsoft.com/office/powerpoint/2010/main" val="417109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4B3D-817C-2B18-631F-FBB453B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Design Choices &amp; Model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CA93-EA23-633A-6120-FC9BD66AF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randNumGenerator</a:t>
            </a:r>
            <a:r>
              <a:rPr lang="en-GB" dirty="0"/>
              <a:t>()</a:t>
            </a:r>
          </a:p>
          <a:p>
            <a:r>
              <a:rPr lang="en-GB" dirty="0"/>
              <a:t>Returns a number between [0,1) for initializing weights randomly.</a:t>
            </a:r>
          </a:p>
          <a:p>
            <a:r>
              <a:rPr lang="en-US" dirty="0"/>
              <a:t>More hidden layer neurons might improve accuracy but require more computation and risk overfitting.</a:t>
            </a:r>
          </a:p>
          <a:p>
            <a:r>
              <a:rPr lang="tr-TR" dirty="0"/>
              <a:t>Sigmoid</a:t>
            </a:r>
            <a:r>
              <a:rPr lang="en-GB" dirty="0"/>
              <a:t> works well with normalized inputs in [0, 1]. Tanh requires [-1, 1] (might be used with Z-score)</a:t>
            </a:r>
          </a:p>
        </p:txBody>
      </p:sp>
    </p:spTree>
    <p:extLst>
      <p:ext uri="{BB962C8B-B14F-4D97-AF65-F5344CB8AC3E}">
        <p14:creationId xmlns:p14="http://schemas.microsoft.com/office/powerpoint/2010/main" val="3811030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9069-A6AC-284F-17B5-6041FCF7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Training procedure &amp; hyperparameters</a:t>
            </a:r>
            <a:endParaRPr lang="tr-T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4BF6-1485-D6DF-E506-B3046904C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5410198" cy="3649133"/>
          </a:xfrm>
        </p:spPr>
        <p:txBody>
          <a:bodyPr/>
          <a:lstStyle/>
          <a:p>
            <a:r>
              <a:rPr lang="en-US" b="1" dirty="0"/>
              <a:t>Hyperparameters:</a:t>
            </a:r>
          </a:p>
          <a:p>
            <a:r>
              <a:rPr lang="en-US" dirty="0"/>
              <a:t>Input Size: 2</a:t>
            </a:r>
          </a:p>
          <a:p>
            <a:r>
              <a:rPr lang="en-US" dirty="0"/>
              <a:t>Hidden Size: 3</a:t>
            </a:r>
          </a:p>
          <a:p>
            <a:r>
              <a:rPr lang="en-US" dirty="0"/>
              <a:t>Output Size: 2</a:t>
            </a:r>
          </a:p>
          <a:p>
            <a:r>
              <a:rPr lang="en-US" dirty="0"/>
              <a:t>Learning Rate: 0.01</a:t>
            </a:r>
          </a:p>
          <a:p>
            <a:r>
              <a:rPr lang="en-US" dirty="0"/>
              <a:t>Momentum: 0.6</a:t>
            </a:r>
          </a:p>
          <a:p>
            <a:r>
              <a:rPr lang="en-US" dirty="0"/>
              <a:t>Epochs: 111</a:t>
            </a:r>
          </a:p>
          <a:p>
            <a:r>
              <a:rPr lang="en-US" dirty="0"/>
              <a:t>Training loop with custom shuffling and MSE calculation.</a:t>
            </a:r>
            <a:endParaRPr lang="tr-T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E40882-0572-DD60-433E-F86AC9441D3C}"/>
              </a:ext>
            </a:extLst>
          </p:cNvPr>
          <p:cNvSpPr txBox="1">
            <a:spLocks/>
          </p:cNvSpPr>
          <p:nvPr/>
        </p:nvSpPr>
        <p:spPr>
          <a:xfrm>
            <a:off x="6096000" y="2142067"/>
            <a:ext cx="5410199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Increasing Hidden Size</a:t>
            </a:r>
          </a:p>
          <a:p>
            <a:r>
              <a:rPr lang="en-US" dirty="0"/>
              <a:t>+ The model can learn more patterns and may get lower MSE.</a:t>
            </a:r>
            <a:br>
              <a:rPr lang="en-US" dirty="0"/>
            </a:br>
            <a:r>
              <a:rPr lang="en-US" dirty="0"/>
              <a:t>– It may overfit and needs more computation.</a:t>
            </a:r>
          </a:p>
          <a:p>
            <a:r>
              <a:rPr lang="en-US" b="1" dirty="0"/>
              <a:t>Increasing Learning Rate</a:t>
            </a:r>
          </a:p>
          <a:p>
            <a:r>
              <a:rPr lang="en-US" dirty="0"/>
              <a:t>+ The model learns faster.</a:t>
            </a:r>
            <a:br>
              <a:rPr lang="en-US" dirty="0"/>
            </a:br>
            <a:r>
              <a:rPr lang="en-US" dirty="0"/>
              <a:t>– Training can become unstable and the error may increase suddenly.</a:t>
            </a:r>
          </a:p>
          <a:p>
            <a:r>
              <a:rPr lang="en-US" b="1" dirty="0"/>
              <a:t>Increasing Momentum</a:t>
            </a:r>
          </a:p>
          <a:p>
            <a:r>
              <a:rPr lang="en-US" dirty="0"/>
              <a:t>+ Weight updates become smoother and faster.</a:t>
            </a:r>
            <a:br>
              <a:rPr lang="en-US" dirty="0"/>
            </a:br>
            <a:r>
              <a:rPr lang="en-US" dirty="0"/>
              <a:t>– Too much momentum can cause the model to move too far (overshoot).</a:t>
            </a:r>
          </a:p>
          <a:p>
            <a:r>
              <a:rPr lang="en-US" b="1" dirty="0"/>
              <a:t>Increasing Epochs</a:t>
            </a:r>
          </a:p>
          <a:p>
            <a:r>
              <a:rPr lang="en-US" dirty="0"/>
              <a:t>+ The model trains for a longer time and may improve.</a:t>
            </a:r>
            <a:br>
              <a:rPr lang="en-US" dirty="0"/>
            </a:br>
            <a:r>
              <a:rPr lang="en-US" dirty="0"/>
              <a:t>– It can overfit, and extra epochs may not give much benefit.</a:t>
            </a:r>
          </a:p>
        </p:txBody>
      </p:sp>
    </p:spTree>
    <p:extLst>
      <p:ext uri="{BB962C8B-B14F-4D97-AF65-F5344CB8AC3E}">
        <p14:creationId xmlns:p14="http://schemas.microsoft.com/office/powerpoint/2010/main" val="301365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5B54-475E-3CCD-E54D-596E911F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err="1"/>
              <a:t>mse</a:t>
            </a:r>
            <a:r>
              <a:rPr lang="en-GB" b="1" dirty="0"/>
              <a:t> curve &amp; stopping criteria</a:t>
            </a:r>
            <a:endParaRPr lang="tr-TR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816549-EEB9-113C-22AC-99E29A039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72720"/>
            <a:ext cx="10131425" cy="3587298"/>
          </a:xfrm>
        </p:spPr>
      </p:pic>
    </p:spTree>
    <p:extLst>
      <p:ext uri="{BB962C8B-B14F-4D97-AF65-F5344CB8AC3E}">
        <p14:creationId xmlns:p14="http://schemas.microsoft.com/office/powerpoint/2010/main" val="201667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3378-9E0F-7AA1-BFB1-F475EE04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Extra information</a:t>
            </a:r>
            <a:endParaRPr lang="tr-T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7874-F5D5-95E5-FA17-8D3853DBB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is divided into three parts for modularity</a:t>
            </a:r>
          </a:p>
          <a:p>
            <a:r>
              <a:rPr lang="en-GB" dirty="0"/>
              <a:t>Firstly Normalisation.py should be started which creates scaler.py</a:t>
            </a:r>
          </a:p>
          <a:p>
            <a:r>
              <a:rPr lang="en-GB" dirty="0"/>
              <a:t>Then TrainNetwork.py which creates weights.py</a:t>
            </a:r>
          </a:p>
          <a:p>
            <a:r>
              <a:rPr lang="en-GB" dirty="0"/>
              <a:t>Lastly NeuralNetHolder.py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8114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240</TotalTime>
  <Words>505</Words>
  <Application>Microsoft Office PowerPoint</Application>
  <PresentationFormat>Widescreen</PresentationFormat>
  <Paragraphs>67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CE889 – Lunar Lander Neural Network Project</vt:lpstr>
      <vt:lpstr>Partition of data</vt:lpstr>
      <vt:lpstr>Data Cleaning &amp; Min–Max Normalisation</vt:lpstr>
      <vt:lpstr>Backpropagation MLP Architecture</vt:lpstr>
      <vt:lpstr>Design Choices &amp; Model Size</vt:lpstr>
      <vt:lpstr>Training procedure &amp; hyperparameters</vt:lpstr>
      <vt:lpstr>mse curve &amp; stopping criteria</vt:lpstr>
      <vt:lpstr>Extra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Baris Govercin</dc:creator>
  <cp:lastModifiedBy>Baris Govercin</cp:lastModifiedBy>
  <cp:revision>5</cp:revision>
  <dcterms:created xsi:type="dcterms:W3CDTF">2025-12-04T18:07:06Z</dcterms:created>
  <dcterms:modified xsi:type="dcterms:W3CDTF">2025-12-07T00:24:55Z</dcterms:modified>
</cp:coreProperties>
</file>